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4B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73152"/>
            <a:ext cx="137160" cy="2286000"/>
          </a:xfrm>
          <a:prstGeom prst="rect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学院AI辅导员系统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智能服务学生新方式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200400" y="3200400"/>
            <a:ext cx="2743200" cy="27432"/>
          </a:xfrm>
          <a:prstGeom prst="rect">
            <a:avLst/>
          </a:prstGeom>
          <a:solidFill>
            <a:srgbClr val="FFFFFF">
              <a:alpha val="5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1371600" y="365760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657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RAG知识库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108960" y="365760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08960" y="3657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智能问答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365760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3657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微信公众号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0" y="3657600"/>
            <a:ext cx="1554480" cy="411480"/>
          </a:xfrm>
          <a:prstGeom prst="roundRect">
            <a:avLst>
              <a:gd name="adj" fmla="val 44444"/>
            </a:avLst>
          </a:prstGeom>
          <a:solidFill>
            <a:srgbClr val="FFFFFF">
              <a:alpha val="15000"/>
            </a:srgbClr>
          </a:solidFill>
          <a:ln w="635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36576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7×24服务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客户版解决方案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8072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1371600"/>
            <a:ext cx="2377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274320" y="210312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91840" y="548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794760" y="548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794760" y="868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学校学生服务现状与痛点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0" y="548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629400" y="548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29400" y="86868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AI辅导员系统介绍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9184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794760" y="1325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79476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技术架构与核心流程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26480" y="1325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629400" y="1325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629400" y="1645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五大核心功能详解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9184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794760" y="2103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知识库内容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794760" y="2423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学校办事指南与文件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1264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629400" y="21031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运营保障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629400" y="24231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转人工机制与服务稳定性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9184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3794760" y="2880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效果预估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94760" y="3200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效率提升与成本节省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126480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629400" y="28803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预算方案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629400" y="320040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三档方案详细对比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29184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3794760" y="3657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实施计划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794760" y="3977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三阶段里程碑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126480" y="36576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6629400" y="36576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合作方式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629400" y="39776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落地模式与服务保障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项目背景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学校学生服务现状与痛点分析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54864" cy="1280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😫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9728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咨询量大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291840" y="1188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人均100+/天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1645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辅导员每天需处理数百次重复性咨询，问题类型集中但耗时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280160"/>
            <a:ext cx="54864" cy="1280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0" y="114300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⏰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539496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响应不及时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89520" y="11887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平均等待4-8h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46320" y="164592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学生等待回复时间长，尤其在非工作时间无法及时获取信息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297180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65760" y="3246120"/>
            <a:ext cx="54864" cy="1280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📋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109728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信息分散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291840" y="3154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5+系统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36118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奖助学金、宿舍、教务等政策文件分散在不同系统和网站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663440" y="2971800"/>
            <a:ext cx="40233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3246120"/>
            <a:ext cx="54864" cy="128016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310896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😔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5394960" y="3154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满意度低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589520" y="31546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满意度&lt;70%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46320" y="361188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学生获取信息困难，辅导员工作压力大，双方体验均需改善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行业趋势与政策背景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743200" cy="34747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71600" y="118872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234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🏛️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0292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4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教育数字化战略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560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教育部《教育信息化2.0行动计划》全面实施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004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智慧校园建设纳入高校评估核心指标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840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AI赋能教育教学成为政策重点方向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005840"/>
            <a:ext cx="2743200" cy="34747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251960" y="118872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4251960" y="1234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38328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4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学生行为变化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2560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95后/00后学生完全习惯移动端获取服务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429000" y="32004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微信日均使用时长超过4小时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429000" y="3840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即时响应成为学生基本诉求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26480" y="1005840"/>
            <a:ext cx="2743200" cy="34747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0" y="118872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0" y="123444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6263640" y="20116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4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AI技术成熟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309360" y="256032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大语言模型推理能力达到专家水平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09360" y="320040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RAG技术实现知识库精准检索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09360" y="3840480"/>
            <a:ext cx="2377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落地成本大幅降低，ROI显著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617720"/>
            <a:ext cx="8412480" cy="411480"/>
          </a:xfrm>
          <a:prstGeom prst="roundRect">
            <a:avLst/>
          </a:prstGeom>
          <a:solidFill>
            <a:srgbClr val="1A4B8C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结论：AI辅导员系统完美契合政策导向、技术趋势与学生需求，是智慧校园建设的最优切入点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解决方案核心价值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1A4B8C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143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"7×24小时即时响应 · 知识库精准解答 · 复杂问题无缝转接"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基于RAG知识库的智能问答机器人，嵌入学校微信公众号，学生无需下载任何APP，对话即可获取学校文件与办事流程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2514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⚡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6576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65760" y="3520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+80%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3977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AI自动解答常见问题，辅导员专注于复杂任务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514600" y="237744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514600" y="2514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💰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51460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成本节省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514600" y="3520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-60%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606040" y="3977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减少重复性人力投入，降低服务运营成本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37744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663440" y="2514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😊</a:t>
            </a:r>
            <a:endParaRPr lang="en-US" sz="3000" dirty="0"/>
          </a:p>
        </p:txBody>
      </p:sp>
      <p:sp>
        <p:nvSpPr>
          <p:cNvPr id="20" name="Text 18"/>
          <p:cNvSpPr/>
          <p:nvPr/>
        </p:nvSpPr>
        <p:spPr>
          <a:xfrm>
            <a:off x="466344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体验改善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663440" y="3520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+95%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754880" y="3977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学生随时获取即时服务，满意度显著提升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812280" y="2377440"/>
            <a:ext cx="2011680" cy="22860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812280" y="251460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25" name="Text 23"/>
          <p:cNvSpPr/>
          <p:nvPr/>
        </p:nvSpPr>
        <p:spPr>
          <a:xfrm>
            <a:off x="6812280" y="31089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数据洞察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12280" y="35204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可量化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903720" y="397764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积累服务数据，为管理决策提供参考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AI辅导员是什么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8412480" cy="1097280"/>
          </a:xfrm>
          <a:prstGeom prst="roundRect">
            <a:avLst>
              <a:gd name="adj" fmla="val 6667"/>
            </a:avLst>
          </a:prstGeom>
          <a:solidFill>
            <a:srgbClr val="DBEAF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产品定义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学院AI辅导员系统是一套基于RAG（检索增强生成）技术的智能问答解决方案，通过学校微信公众号这个学生日常使用最高频的入口，为学生提供7×24小时的校园事务智能问答服务。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与传统方式的对比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260604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FEE2E2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C26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❌ 传统方式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学生需记忆多个系统入口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3456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问题咨询需等待老师回复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8039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非工作时间无法获取服务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41513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信息更新不同步导致误导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48640" y="44988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辅导员重复回答同一问题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606040"/>
            <a:ext cx="4023360" cy="2194560"/>
          </a:xfrm>
          <a:prstGeom prst="roundRect">
            <a:avLst>
              <a:gd name="adj" fmla="val 3333"/>
            </a:avLst>
          </a:prstGeom>
          <a:solidFill>
            <a:srgbClr val="D1FAE5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697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AI辅导员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37760" y="3108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微信公众号一键触达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34564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3秒内即时智能响应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80390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7×24全天候不间断服务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937760" y="415137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知识库集中管理实时更新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449884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同一问题只回答一次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AI辅导员能做什么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6012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🎓 奖助学金咨询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国家奖学金、助学金、勤工俭学、助学贷款等各类奖助政策的申请条件、流程、材料清单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02920" y="1920240"/>
            <a:ext cx="1097280" cy="201168"/>
          </a:xfrm>
          <a:prstGeom prst="roundRect">
            <a:avLst>
              <a:gd name="adj" fmla="val 45455"/>
            </a:avLst>
          </a:prstGeom>
          <a:solidFill>
            <a:srgbClr val="DBEAF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9202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奖学金申请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691640" y="1920240"/>
            <a:ext cx="1097280" cy="201168"/>
          </a:xfrm>
          <a:prstGeom prst="roundRect">
            <a:avLst>
              <a:gd name="adj" fmla="val 45455"/>
            </a:avLst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1691640" y="19202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助学金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63440" y="96012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00600" y="10515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宿舍事务办理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00600" y="13716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调换宿舍、退宿办理、住宿申请、宿舍费用查询等宿舍相关全流程指引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00600" y="1920240"/>
            <a:ext cx="1097280" cy="201168"/>
          </a:xfrm>
          <a:prstGeom prst="roundRect">
            <a:avLst>
              <a:gd name="adj" fmla="val 45455"/>
            </a:avLst>
          </a:prstGeom>
          <a:solidFill>
            <a:srgbClr val="DB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4800600" y="19202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调换宿舍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989320" y="1920240"/>
            <a:ext cx="1097280" cy="201168"/>
          </a:xfrm>
          <a:prstGeom prst="roundRect">
            <a:avLst>
              <a:gd name="adj" fmla="val 45455"/>
            </a:avLst>
          </a:prstGeom>
          <a:solidFill>
            <a:srgbClr val="DBEAFE"/>
          </a:solidFill>
          <a:ln/>
        </p:spPr>
      </p:sp>
      <p:sp>
        <p:nvSpPr>
          <p:cNvPr id="18" name="Text 16"/>
          <p:cNvSpPr/>
          <p:nvPr/>
        </p:nvSpPr>
        <p:spPr>
          <a:xfrm>
            <a:off x="5989320" y="19202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退宿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65760" y="233172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02920" y="2423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消三比达标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02920" y="27432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消三比达标标准查询、预警消除申请流程、学业/综素/宿舍卫生各维度说明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3291840"/>
            <a:ext cx="1097280" cy="201168"/>
          </a:xfrm>
          <a:prstGeom prst="roundRect">
            <a:avLst>
              <a:gd name="adj" fmla="val 45455"/>
            </a:avLst>
          </a:prstGeom>
          <a:solidFill>
            <a:srgbClr val="DBEAFE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2918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消三比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1691640" y="3291840"/>
            <a:ext cx="1097280" cy="201168"/>
          </a:xfrm>
          <a:prstGeom prst="roundRect">
            <a:avLst>
              <a:gd name="adj" fmla="val 45455"/>
            </a:avLst>
          </a:prstGeom>
          <a:solidFill>
            <a:srgbClr val="DBEAFE"/>
          </a:solidFill>
          <a:ln/>
        </p:spPr>
      </p:sp>
      <p:sp>
        <p:nvSpPr>
          <p:cNvPr id="25" name="Text 23"/>
          <p:cNvSpPr/>
          <p:nvPr/>
        </p:nvSpPr>
        <p:spPr>
          <a:xfrm>
            <a:off x="1691640" y="32918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学业预警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663440" y="233172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00600" y="24231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📄 其他校园事务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27432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请假流程、户籍办理、成绩证明、毕业手续等各类常见校园事务咨询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800600" y="3291840"/>
            <a:ext cx="1097280" cy="201168"/>
          </a:xfrm>
          <a:prstGeom prst="roundRect">
            <a:avLst>
              <a:gd name="adj" fmla="val 45455"/>
            </a:avLst>
          </a:prstGeom>
          <a:solidFill>
            <a:srgbClr val="DBEAFE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32918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请假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5989320" y="3291840"/>
            <a:ext cx="1097280" cy="201168"/>
          </a:xfrm>
          <a:prstGeom prst="roundRect">
            <a:avLst>
              <a:gd name="adj" fmla="val 45455"/>
            </a:avLst>
          </a:prstGeom>
          <a:solidFill>
            <a:srgbClr val="DBEAFE"/>
          </a:solidFill>
          <a:ln/>
        </p:spPr>
      </p:sp>
      <p:sp>
        <p:nvSpPr>
          <p:cNvPr id="32" name="Text 30"/>
          <p:cNvSpPr/>
          <p:nvPr/>
        </p:nvSpPr>
        <p:spPr>
          <a:xfrm>
            <a:off x="5989320" y="32918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成绩单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365760" y="370332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" y="3794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智能闲聊互动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02920" y="4114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友好的开场白和寒暄响应，提供有温度的服务体验，增强学生使用意愿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02920" y="4663440"/>
            <a:ext cx="1097280" cy="201168"/>
          </a:xfrm>
          <a:prstGeom prst="roundRect">
            <a:avLst>
              <a:gd name="adj" fmla="val 45455"/>
            </a:avLst>
          </a:prstGeom>
          <a:solidFill>
            <a:srgbClr val="DBEAFE"/>
          </a:solidFill>
          <a:ln/>
        </p:spPr>
      </p:sp>
      <p:sp>
        <p:nvSpPr>
          <p:cNvPr id="37" name="Text 35"/>
          <p:cNvSpPr/>
          <p:nvPr/>
        </p:nvSpPr>
        <p:spPr>
          <a:xfrm>
            <a:off x="502920" y="46634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问候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1691640" y="4663440"/>
            <a:ext cx="1097280" cy="201168"/>
          </a:xfrm>
          <a:prstGeom prst="roundRect">
            <a:avLst>
              <a:gd name="adj" fmla="val 45455"/>
            </a:avLst>
          </a:prstGeom>
          <a:solidFill>
            <a:srgbClr val="DBEAFE"/>
          </a:solidFill>
          <a:ln/>
        </p:spPr>
      </p:sp>
      <p:sp>
        <p:nvSpPr>
          <p:cNvPr id="39" name="Text 37"/>
          <p:cNvSpPr/>
          <p:nvPr/>
        </p:nvSpPr>
        <p:spPr>
          <a:xfrm>
            <a:off x="1691640" y="46634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闲聊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663440" y="3703320"/>
            <a:ext cx="4114800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800600" y="379476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📞 一键转人工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800600" y="411480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复杂问题或AI无法解答时，自动转接对应部门老师，提供姓名、电话、部门信息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00600" y="4663440"/>
            <a:ext cx="1097280" cy="201168"/>
          </a:xfrm>
          <a:prstGeom prst="roundRect">
            <a:avLst>
              <a:gd name="adj" fmla="val 45455"/>
            </a:avLst>
          </a:prstGeom>
          <a:solidFill>
            <a:srgbClr val="DBEAFE"/>
          </a:solidFill>
          <a:ln/>
        </p:spPr>
      </p:sp>
      <p:sp>
        <p:nvSpPr>
          <p:cNvPr id="44" name="Text 42"/>
          <p:cNvSpPr/>
          <p:nvPr/>
        </p:nvSpPr>
        <p:spPr>
          <a:xfrm>
            <a:off x="4800600" y="46634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转人工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5989320" y="4663440"/>
            <a:ext cx="1097280" cy="201168"/>
          </a:xfrm>
          <a:prstGeom prst="roundRect">
            <a:avLst>
              <a:gd name="adj" fmla="val 45455"/>
            </a:avLst>
          </a:prstGeom>
          <a:solidFill>
            <a:srgbClr val="DBEAFE"/>
          </a:solidFill>
          <a:ln/>
        </p:spPr>
      </p:sp>
      <p:sp>
        <p:nvSpPr>
          <p:cNvPr id="46" name="Text 44"/>
          <p:cNvSpPr/>
          <p:nvPr/>
        </p:nvSpPr>
        <p:spPr>
          <a:xfrm>
            <a:off x="5989320" y="4663440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联系老师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系统架构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059669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645920" y="100584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645920" y="100584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微信公众号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154680" y="100584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54680" y="100584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网页端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63440" y="100584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00584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196596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196596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645920" y="196596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196596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意图识别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154680" y="196596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196596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RAG检索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63440" y="196596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196596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AI回复生成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196596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72200" y="196596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转人工处理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292608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365760" y="292608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645920" y="292608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45920" y="292608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ChromaDB知识库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154680" y="292608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54680" y="292608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向量嵌入模型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63440" y="292608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292608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学校文档库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886200"/>
            <a:ext cx="1097280" cy="777240"/>
          </a:xfrm>
          <a:prstGeom prst="roundRect">
            <a:avLst>
              <a:gd name="adj" fmla="val 7059"/>
            </a:avLst>
          </a:prstGeom>
          <a:solidFill>
            <a:srgbClr val="DC2626"/>
          </a:solidFill>
          <a:ln/>
        </p:spPr>
      </p:sp>
      <p:sp>
        <p:nvSpPr>
          <p:cNvPr id="32" name="Text 30"/>
          <p:cNvSpPr/>
          <p:nvPr/>
        </p:nvSpPr>
        <p:spPr>
          <a:xfrm>
            <a:off x="365760" y="3886200"/>
            <a:ext cx="1097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支撑层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645920" y="388620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45920" y="38862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FastAPI服务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154680" y="388620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154680" y="38862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Grok-2 API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63440" y="3886200"/>
            <a:ext cx="14173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663440" y="3886200"/>
            <a:ext cx="1417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学校公告抓取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65760" y="4617720"/>
            <a:ext cx="8412480" cy="41148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46177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📍 数据流：学生消息 → 微信公众号 → FastAPI → 意图识别 → RAG检索 → LLM生成 → 微信回复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核心工作流程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645920" cy="2377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2344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74320" y="1874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💬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65760" y="2331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学生提问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6974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学生通过微信公众号发送问题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874520" y="19202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2029968" y="1097280"/>
            <a:ext cx="1645920" cy="2377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78608" y="12344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4" name="Text 12"/>
          <p:cNvSpPr/>
          <p:nvPr/>
        </p:nvSpPr>
        <p:spPr>
          <a:xfrm>
            <a:off x="2578608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29968" y="1874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🔍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121408" y="2331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意图识别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121408" y="26974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AI识别5大类意图：奖助学金/宿舍/消三比/其他/闲聊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30168" y="19202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3785616" y="1097280"/>
            <a:ext cx="1645920" cy="2377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334256" y="12344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4334256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785616" y="1874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📚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877056" y="2331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知识检索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877056" y="26974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ChromaDB向量检索，匹配最相关的知识文档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5385816" y="19202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541264" y="1097280"/>
            <a:ext cx="1645920" cy="2377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089904" y="12344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8" name="Text 26"/>
          <p:cNvSpPr/>
          <p:nvPr/>
        </p:nvSpPr>
        <p:spPr>
          <a:xfrm>
            <a:off x="6089904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541264" y="1874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🤖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632704" y="2331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AI生成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632704" y="26974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Grok-2大模型结合知识库生成专业回答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7141464" y="19202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296912" y="1097280"/>
            <a:ext cx="1645920" cy="2377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845552" y="123444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7845552" y="123444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296912" y="18745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37" name="Text 35"/>
          <p:cNvSpPr/>
          <p:nvPr/>
        </p:nvSpPr>
        <p:spPr>
          <a:xfrm>
            <a:off x="7388352" y="233172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智能回复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88352" y="2697480"/>
            <a:ext cx="1463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3秒内通过微信推送精准答案给学生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65760" y="3657600"/>
            <a:ext cx="8412480" cy="1325880"/>
          </a:xfrm>
          <a:prstGeom prst="roundRect">
            <a:avLst>
              <a:gd name="adj" fmla="val 5517"/>
            </a:avLst>
          </a:prstGeom>
          <a:solidFill>
            <a:srgbClr val="FFF7ED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🔀 转人工流程（复杂问题兜底）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48640" y="411480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当学生请求转人工 / AI置信度低 / 系统判定为复杂问题时 → 自动推送对应部门老师联系方式（姓名+电话+负责领域）→ 学生可直接致电或前往办理 → 全程服务闭环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核心功能详解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🎯 功能一：意图识别引擎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1591056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86968" y="164592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886968" y="16642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🎓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65760" y="2286000"/>
            <a:ext cx="1591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奖助学金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2651760"/>
            <a:ext cx="1408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关键词: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83464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奖学金,助学金,助学贷款,贫困生,补贴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57200" y="3383280"/>
            <a:ext cx="14081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国家助学金/奖学金/励志奖学金等申请条件、流程、材料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2048256" y="1508760"/>
            <a:ext cx="1591056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569464" y="164592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6" name="Text 14"/>
          <p:cNvSpPr/>
          <p:nvPr/>
        </p:nvSpPr>
        <p:spPr>
          <a:xfrm>
            <a:off x="2569464" y="16642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🏠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2048256" y="2286000"/>
            <a:ext cx="1591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宿舍相关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139696" y="2651760"/>
            <a:ext cx="1408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关键词: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139696" y="283464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宿舍,床位,住宿,调换,退宿,退房,寝室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2139696" y="3383280"/>
            <a:ext cx="14081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调换宿舍、退宿办理、住宿申请等流程指引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3730752" y="1508760"/>
            <a:ext cx="1591056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251960" y="164592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4251960" y="16642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3730752" y="2286000"/>
            <a:ext cx="1591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消三比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822192" y="2651760"/>
            <a:ext cx="1408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关键词: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3822192" y="283464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消三比,三比,达标,预警,学分,绩点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822192" y="3383280"/>
            <a:ext cx="14081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消三比达标标准、预警消除申请流程说明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413248" y="1508760"/>
            <a:ext cx="1591056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934456" y="164592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0" name="Text 28"/>
          <p:cNvSpPr/>
          <p:nvPr/>
        </p:nvSpPr>
        <p:spPr>
          <a:xfrm>
            <a:off x="5934456" y="16642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413248" y="2286000"/>
            <a:ext cx="1591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其他办事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504688" y="2651760"/>
            <a:ext cx="1408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关键词: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5504688" y="283464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请假,成绩,证明,毕业,户籍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504688" y="3383280"/>
            <a:ext cx="14081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请假制度、成绩证明、毕业手续等咨询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7095744" y="1508760"/>
            <a:ext cx="1591056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7616952" y="1645920"/>
            <a:ext cx="548640" cy="54864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7" name="Text 35"/>
          <p:cNvSpPr/>
          <p:nvPr/>
        </p:nvSpPr>
        <p:spPr>
          <a:xfrm>
            <a:off x="7616952" y="1664208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7095744" y="2286000"/>
            <a:ext cx="159105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闲聊/其他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187184" y="2651760"/>
            <a:ext cx="1408176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关键词: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7187184" y="2834640"/>
            <a:ext cx="1408176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你好,您好,在吗,hi,hello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7187184" y="3383280"/>
            <a:ext cx="1408176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问候语响应及友好交互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365760" y="4297680"/>
            <a:ext cx="8412480" cy="731520"/>
          </a:xfrm>
          <a:prstGeom prst="roundRect">
            <a:avLst>
              <a:gd name="adj" fmla="val 6250"/>
            </a:avLst>
          </a:prstGeom>
          <a:solidFill>
            <a:srgbClr val="DBEAFE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2976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技术实现：基于关键词匹配 + 语义理解的双层识别机制，支持同义词扩展和模糊匹配，识别准确率≥95%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核心功能详解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🧠 功能二：RAG检索增强知识库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26974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720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914400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文档解析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0574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支持PDF/Word/TXT等格式，自动提取文本内容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0" y="1508760"/>
            <a:ext cx="26974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29184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✂️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749040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文本分块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20574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智能分chunk，保留语义完整性，便于精准检索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035040" y="1508760"/>
            <a:ext cx="26974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126480" y="1600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🔢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583680" y="16459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向量嵌入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26480" y="205740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多语言模型paraphrase-multilingual-MiniLM-L12-v2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2926080"/>
            <a:ext cx="26974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14400" y="3063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ChromaDB存储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34747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向量数据库持久化存储，支持高速相似度检索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0" y="2926080"/>
            <a:ext cx="26974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29184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🔍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3749040" y="3063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语义检索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291840" y="34747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学生问题转向量，最匹配Top-K文档召回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035040" y="2926080"/>
            <a:ext cx="269748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6126480" y="30175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6583680" y="30632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LLM生成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126480" y="347472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Grok-2结合检索内容生成准确、专业的回答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4434840"/>
            <a:ext cx="8412480" cy="594360"/>
          </a:xfrm>
          <a:prstGeom prst="roundRect">
            <a:avLst>
              <a:gd name="adj" fmla="val 7692"/>
            </a:avLst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4348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优势：答案基于学校官方文件，回答准确可信；支持增量更新，文件修改后一键同步；跨平台部署，Windows/Mac/Linux均可运行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核心功能详解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🤖 功能三：AI智能解答（Grok-2大模型）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53035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4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Grok-2 模型能力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2011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强大的中文语义理解能力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3134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专业领域知识问答专家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615184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支持多轮对话上下文记忆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2916936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生成内容结构清晰、表达专业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321868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可处理复杂模糊问题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52044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Fallback机制保障服务可用性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852160" y="1508760"/>
            <a:ext cx="2926080" cy="2286000"/>
          </a:xfrm>
          <a:prstGeom prst="roundRect">
            <a:avLst>
              <a:gd name="adj" fmla="val 3200"/>
            </a:avLst>
          </a:prstGeom>
          <a:solidFill>
            <a:srgbClr val="FFF7ED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60020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💬 回答示例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0" y="1965960"/>
            <a:ext cx="2743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学生：国家助学金怎么申请？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🎓 国家助学金申请指南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申请条件：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家庭经济困难、学习良好、无违纪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 资助标准：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3000-5000元/年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申请流程：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9月系统申请 → 准备材料 → 辅导员审核 → 学院公示3天 → 10月发放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65760" y="3931920"/>
            <a:ext cx="8412480" cy="109728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🛡️ 服务保障：多级Fallback机制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389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当Grok-2 API不可用时 → 自动切换到本地RAG直答模式 → 即使API完全故障，知识库内容仍可直接返回，确保服务不中断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核心功能详解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📞 功能四：转人工服务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触发转人工的三大场景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874520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" y="19659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🗣️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学生主动要求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286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学生回复"转人工"、"找老师"等关键词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0" y="1874520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19659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🤔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74904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AI置信度低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749040" y="2286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知识库无匹配结果或匹配度低于阈值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35040" y="1874520"/>
            <a:ext cx="26974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1965960"/>
            <a:ext cx="457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583680" y="19659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复杂问题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83680" y="228600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涉及多个部门或需要人工判断的综合性问题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5760" y="3017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已配置老师联系方式（3位）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65760" y="338328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371600" y="3493008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5204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张老师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57200" y="42062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学生工作办公室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448056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📱 010-12345678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470916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奖助学金,助学贷款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200400" y="338328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206240" y="3493008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3200400" y="35204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李老师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291840" y="42062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宿舍管理办公室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200400" y="448056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📱 010-23456789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291840" y="470916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宿舍调整,退宿,住宿申请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6035040" y="3383280"/>
            <a:ext cx="2697480" cy="155448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040880" y="3493008"/>
            <a:ext cx="640080" cy="64008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35" name="Text 33"/>
          <p:cNvSpPr/>
          <p:nvPr/>
        </p:nvSpPr>
        <p:spPr>
          <a:xfrm>
            <a:off x="6035040" y="352044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王老师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126480" y="4206240"/>
            <a:ext cx="2514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教务办公室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5040" y="4480560"/>
            <a:ext cx="2697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📱 010-34567890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126480" y="4709160"/>
            <a:ext cx="2514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消三比,成绩单,学籍证明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核心功能详解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457200"/>
          </a:xfrm>
          <a:prstGeom prst="roundRect">
            <a:avLst>
              <a:gd name="adj" fmla="val 10000"/>
            </a:avLst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📢 功能五：学校公告自动抓取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508760"/>
            <a:ext cx="502920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48640" y="16002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核心能力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48640" y="19659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📰 定时从学校官网、学工处、研究生院等抓取最新公告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48640" y="224028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🔄 支持多种数据源：RSS订阅、HTTP抓取、JSON接口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251460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📂 自动分类：奖助学金/宿舍/教务/就业等类别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48640" y="278892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🧹 自动去重：基于标题+时间戳去重，避免重复入库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306324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⏰ 可配置抓取频率：每小时/每天/每周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337560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日志记录：每次抓取结果可查、可追溯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577840" y="1508760"/>
            <a:ext cx="3200400" cy="2103120"/>
          </a:xfrm>
          <a:prstGeom prst="roundRect">
            <a:avLst>
              <a:gd name="adj" fmla="val 3478"/>
            </a:avLst>
          </a:prstGeom>
          <a:solidFill>
            <a:srgbClr val="DB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0" y="1600200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多种数据导入方式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669280" y="19659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📄 文件上传：PDF/Word/TXT/JSON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669280" y="224028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🔗 URL抓取：网页链接直接导入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0" y="251460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📡 RSS订阅：自动订阅并更新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0" y="278892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📋 批量导入：文件夹一键批量处理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0" y="306324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🖥️ API接口：与其他系统对接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0" y="3337560"/>
            <a:ext cx="3017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📝 手动录入：后台直接添加文本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" y="3749040"/>
            <a:ext cx="84124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84048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4B8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🗂️ 知识库管理后台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420624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支持增删改查、可视化配置、版本管理、批量操作、导出备份，老师无需编程即可自主维护知识库内容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48640" y="4572000"/>
            <a:ext cx="1536192" cy="365760"/>
          </a:xfrm>
          <a:prstGeom prst="roundRect">
            <a:avLst>
              <a:gd name="adj" fmla="val 37500"/>
            </a:avLst>
          </a:prstGeom>
          <a:solidFill>
            <a:srgbClr val="DBEAFE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57200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➕ 添加知识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176272" y="4572000"/>
            <a:ext cx="1536192" cy="365760"/>
          </a:xfrm>
          <a:prstGeom prst="roundRect">
            <a:avLst>
              <a:gd name="adj" fmla="val 37500"/>
            </a:avLst>
          </a:prstGeom>
          <a:solidFill>
            <a:srgbClr val="DBEAFE"/>
          </a:solidFill>
          <a:ln/>
        </p:spPr>
      </p:sp>
      <p:sp>
        <p:nvSpPr>
          <p:cNvPr id="29" name="Text 27"/>
          <p:cNvSpPr/>
          <p:nvPr/>
        </p:nvSpPr>
        <p:spPr>
          <a:xfrm>
            <a:off x="2176272" y="457200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✏️ 编辑内容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803904" y="4572000"/>
            <a:ext cx="1536192" cy="365760"/>
          </a:xfrm>
          <a:prstGeom prst="roundRect">
            <a:avLst>
              <a:gd name="adj" fmla="val 37500"/>
            </a:avLst>
          </a:prstGeom>
          <a:solidFill>
            <a:srgbClr val="DBEAFE"/>
          </a:solidFill>
          <a:ln/>
        </p:spPr>
      </p:sp>
      <p:sp>
        <p:nvSpPr>
          <p:cNvPr id="31" name="Text 29"/>
          <p:cNvSpPr/>
          <p:nvPr/>
        </p:nvSpPr>
        <p:spPr>
          <a:xfrm>
            <a:off x="3803904" y="457200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🗑️ 删除过期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431536" y="4572000"/>
            <a:ext cx="1536192" cy="365760"/>
          </a:xfrm>
          <a:prstGeom prst="roundRect">
            <a:avLst>
              <a:gd name="adj" fmla="val 37500"/>
            </a:avLst>
          </a:prstGeom>
          <a:solidFill>
            <a:srgbClr val="DBEAFE"/>
          </a:solidFill>
          <a:ln/>
        </p:spPr>
      </p:sp>
      <p:sp>
        <p:nvSpPr>
          <p:cNvPr id="33" name="Text 31"/>
          <p:cNvSpPr/>
          <p:nvPr/>
        </p:nvSpPr>
        <p:spPr>
          <a:xfrm>
            <a:off x="5431536" y="457200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📤 导出备份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059168" y="4572000"/>
            <a:ext cx="1536192" cy="365760"/>
          </a:xfrm>
          <a:prstGeom prst="roundRect">
            <a:avLst>
              <a:gd name="adj" fmla="val 37500"/>
            </a:avLst>
          </a:prstGeom>
          <a:solidFill>
            <a:srgbClr val="DBEAFE"/>
          </a:solidFill>
          <a:ln/>
        </p:spPr>
      </p:sp>
      <p:sp>
        <p:nvSpPr>
          <p:cNvPr id="35" name="Text 33"/>
          <p:cNvSpPr/>
          <p:nvPr/>
        </p:nvSpPr>
        <p:spPr>
          <a:xfrm>
            <a:off x="7059168" y="4572000"/>
            <a:ext cx="15361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📊 统计分析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知识库内容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已集成的学校办事指南与政策文件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05966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🎓 奖助学金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444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国家助学金申请指南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7190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申请条件、奖励标准、申请流程、时间节点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37160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444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国家奖学金评定办法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7190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评定条件、奖励标准8000元/年、申请流程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221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国家励志奖学金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496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资助对象5000元/年、申请条件、评审流程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214884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221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勤工俭学管理办法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2496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岗位申请、工资标准、工作要求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🏠 宿舍管理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3639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调换宿舍办理流程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9136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申请条件、办理流程、审批时限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356616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3639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退宿办理指南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39136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毕业退宿流程、押金退还、注意事项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34340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44165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住宿申请须知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46908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新生申请、老生续租、选房规则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5349240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7C3AED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5349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消三比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576072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502920" y="58338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消三比达标标准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" y="61081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学业进度80%+、综素活动10次+、宿舍80分+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0" y="576072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4709160" y="58338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消三比预警消除流程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09160" y="61081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学业预警/综素预警/宿舍预警各自消除流程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知识库内容（续）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其他办事指南与政策文件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960120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60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📄 其他校园事务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137160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1444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请假制度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7190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请假类型、审批流程、证明材料、补办规定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0" y="137160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09160" y="14447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成绩单办理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09160" y="17190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中英文成绩单、在读证明、学籍证明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14884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221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户籍办理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2496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户籍迁移、借出、归还流程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572000" y="214884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709160" y="22219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毕业手续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09160" y="2496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离校手续、毕业证领取、档案转递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65760" y="3154680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154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📚 教务相关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65760" y="356616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2920" y="3639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选课指南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" y="39136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选课时间、选课规则、补退选流程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0" y="356616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09160" y="36393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转专业办法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9160" y="39136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申请条件、考核流程、时间安排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5760" y="4343400"/>
            <a:ext cx="4023360" cy="6858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4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44165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休学复学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02920" y="46908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📌 休学申请、复学手续、学籍保留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931920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1A4B8C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023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800" dirty="0"/>
          </a:p>
        </p:txBody>
      </p:sp>
      <p:sp>
        <p:nvSpPr>
          <p:cNvPr id="33" name="Text 31"/>
          <p:cNvSpPr/>
          <p:nvPr/>
        </p:nvSpPr>
        <p:spPr>
          <a:xfrm>
            <a:off x="640080" y="4526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知识类别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743200" y="4023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</a:t>
            </a:r>
            <a:endParaRPr lang="en-US" sz="2800" dirty="0"/>
          </a:p>
        </p:txBody>
      </p:sp>
      <p:sp>
        <p:nvSpPr>
          <p:cNvPr id="35" name="Text 33"/>
          <p:cNvSpPr/>
          <p:nvPr/>
        </p:nvSpPr>
        <p:spPr>
          <a:xfrm>
            <a:off x="2743200" y="4526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文档数量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846320" y="4023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4846320" y="4526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老师配置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949440" y="40233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7×24</a:t>
            </a:r>
            <a:endParaRPr lang="en-US" sz="2800" dirty="0"/>
          </a:p>
        </p:txBody>
      </p:sp>
      <p:sp>
        <p:nvSpPr>
          <p:cNvPr id="39" name="Text 37"/>
          <p:cNvSpPr/>
          <p:nvPr/>
        </p:nvSpPr>
        <p:spPr>
          <a:xfrm>
            <a:off x="6949440" y="4526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服务时间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运营保障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344168" y="1143000"/>
            <a:ext cx="731520" cy="73152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1344168" y="11887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🔄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457200" y="19659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转人工兜底机制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AI无法解答时自动转人工，不推诿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8072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3位老师按专长分工，覆盖主要事务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319125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转人工消息包含姓名+电话+部门+专长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57530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工作时间电话即拨即通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02920" y="395935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非工作时间引导至值班老师或工单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0" y="100584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178808" y="1143000"/>
            <a:ext cx="731520" cy="731520"/>
          </a:xfrm>
          <a:prstGeom prst="ellipse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4178808" y="11887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🛡️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3291840" y="19659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服务稳定性保障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37560" y="24231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FastAPI异步架构，支持高并发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37560" y="28072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多级Fallback：API→RAG直答→知识库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37560" y="319125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ChromaDB本地持久化，数据不丢失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37560" y="357530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系统日志完整，可追溯每条问答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395935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健康检查接口，实时监控服务状态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1005840"/>
            <a:ext cx="2697480" cy="356616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013448" y="1143000"/>
            <a:ext cx="731520" cy="73152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5" name="Text 23"/>
          <p:cNvSpPr/>
          <p:nvPr/>
        </p:nvSpPr>
        <p:spPr>
          <a:xfrm>
            <a:off x="7013448" y="11887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🔒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6126480" y="19659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内容安全与合规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72200" y="242316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回答内容基于学校官方文件，准确可信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172200" y="2807208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敏感词过滤机制，防止不当内容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172200" y="3191256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知识库权限分级，管理员/普通用户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72200" y="3575304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用户数据隔离，不泄露学生隐私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172200" y="3959352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微信官方API接入，安全合规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663440"/>
            <a:ext cx="8412480" cy="365760"/>
          </a:xfrm>
          <a:prstGeom prst="roundRect">
            <a:avLst>
              <a:gd name="adj" fmla="val 12500"/>
            </a:avLst>
          </a:prstGeom>
          <a:solidFill>
            <a:srgbClr val="F0FDF4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663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服务可用性承诺：系统故障2小时内响应，知识库更新2工作日内完成，技术支持7×24小时在线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效果预估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效率提升与成本节省测算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0584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" y="11430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80%+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201168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咨询自动化率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11680" y="1600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常见问题由AI直接解答，无需人工介入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63440" y="100584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00600" y="114300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95%+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6309360" y="11887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学生满意度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309360" y="160020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即时响应+精准答案，学生体验显著提升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25603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01168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人力节省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011680" y="3017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辅导员日常咨询工作量减少六成，可专注复杂事务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63440" y="2423160"/>
            <a:ext cx="411480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00600" y="2560320"/>
            <a:ext cx="1463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3秒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6309360" y="26060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平均响应时间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309360" y="3017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学生提问后3秒内获得答案，告别等待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977640"/>
            <a:ext cx="8412480" cy="1051560"/>
          </a:xfrm>
          <a:prstGeom prst="roundRect">
            <a:avLst>
              <a:gd name="adj" fmla="val 6957"/>
            </a:avLst>
          </a:prstGeom>
          <a:solidFill>
            <a:srgbClr val="1A4B8C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4069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💰 成本节省测算（以10000名学生规模为例）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4434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¥50万+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4754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传统模式年成本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2651760" y="4434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¥9.4万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2651760" y="4754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AI辅导员年成本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754880" y="4434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约¥41万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754880" y="4754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年度节省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858000" y="44348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约1.2年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58000" y="4754880"/>
            <a:ext cx="1920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投资回报周期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预算方案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三档方案，满足不同规模与预算需求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14400"/>
            <a:ext cx="2834640" cy="41148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51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保守型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74320" y="1417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小型院校/试点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6916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596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¥2,555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4320" y="22402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514600"/>
            <a:ext cx="228600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2" name="Text 10"/>
          <p:cNvSpPr/>
          <p:nvPr/>
        </p:nvSpPr>
        <p:spPr>
          <a:xfrm>
            <a:off x="411480" y="2606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Gemini 1.5 Flash API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2898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基础功能部署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31912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标准知识库配置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34838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1个微信公众号接入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37764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基础技术支持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1480" y="4069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月度知识库更新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43616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Q&amp;A报表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46542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不支持私有化部署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11480" y="49469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不支持定制开发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5239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不提供现场服务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27832" y="914400"/>
            <a:ext cx="2834640" cy="41148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959352" y="731520"/>
            <a:ext cx="1371600" cy="320040"/>
          </a:xfrm>
          <a:prstGeom prst="roundRect">
            <a:avLst>
              <a:gd name="adj" fmla="val 42857"/>
            </a:avLst>
          </a:prstGeom>
          <a:solidFill>
            <a:srgbClr val="F59E0B"/>
          </a:solidFill>
          <a:ln/>
        </p:spPr>
      </p:sp>
      <p:sp>
        <p:nvSpPr>
          <p:cNvPr id="24" name="Text 22"/>
          <p:cNvSpPr/>
          <p:nvPr/>
        </p:nvSpPr>
        <p:spPr>
          <a:xfrm>
            <a:off x="3959352" y="731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3227832" y="1051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均衡型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227832" y="1417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中型院校/标准需求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227832" y="16916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¥23,530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3227832" y="22402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502152" y="2514600"/>
            <a:ext cx="228600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30" name="Text 28"/>
          <p:cNvSpPr/>
          <p:nvPr/>
        </p:nvSpPr>
        <p:spPr>
          <a:xfrm>
            <a:off x="3364992" y="2606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通义千问Plus API（中文最优）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364992" y="2898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完整功能部署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364992" y="31912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高级知识库配置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364992" y="34838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3个公众号接入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64992" y="37764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优先技术支持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364992" y="4069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周度知识库更新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364992" y="43616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详细数据报表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364992" y="46542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转人工工单系统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364992" y="49469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学校公告自动抓取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364992" y="5239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不支持私有化部署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364992" y="553212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✗ 有限定制开发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181344" y="914400"/>
            <a:ext cx="2834640" cy="411480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181344" y="10515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激进型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181344" y="141732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大型院校/深度需求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181344" y="16916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C3AE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¥29,783</a:t>
            </a:r>
            <a:endParaRPr lang="en-US" sz="2600" dirty="0"/>
          </a:p>
        </p:txBody>
      </p:sp>
      <p:sp>
        <p:nvSpPr>
          <p:cNvPr id="45" name="Text 43"/>
          <p:cNvSpPr/>
          <p:nvPr/>
        </p:nvSpPr>
        <p:spPr>
          <a:xfrm>
            <a:off x="6181344" y="2240280"/>
            <a:ext cx="2834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季度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455664" y="2514600"/>
            <a:ext cx="2286000" cy="18288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47" name="Text 45"/>
          <p:cNvSpPr/>
          <p:nvPr/>
        </p:nvSpPr>
        <p:spPr>
          <a:xfrm>
            <a:off x="6318504" y="26060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Kimi API（国产高性价比）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318504" y="289864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全功能+私有化部署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318504" y="319125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无限公众号接入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6318504" y="348386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7×24专属技术支持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318504" y="377647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实时知识库更新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318504" y="406908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高级数据分析平台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318504" y="4361688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多角色权限管理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6318504" y="4654296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与学校系统对接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6318504" y="4946904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AI模型微调优化</a:t>
            </a:r>
            <a:endParaRPr lang="en-US" sz="1000" dirty="0"/>
          </a:p>
        </p:txBody>
      </p:sp>
      <p:sp>
        <p:nvSpPr>
          <p:cNvPr id="56" name="Text 54"/>
          <p:cNvSpPr/>
          <p:nvPr/>
        </p:nvSpPr>
        <p:spPr>
          <a:xfrm>
            <a:off x="6318504" y="52395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✓ 季度现场培训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365760" y="4709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价格包含成本+服务费（服务费比例30%）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费用构成明细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本方案基于10,000月活用户测算（15次查询/月 × 1,500 tokens/查询）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74320" y="960120"/>
            <a:ext cx="1645920" cy="384048"/>
          </a:xfrm>
          <a:prstGeom prst="roundRect">
            <a:avLst>
              <a:gd name="adj" fmla="val 11905"/>
            </a:avLst>
          </a:prstGeom>
          <a:solidFill>
            <a:srgbClr val="1A4B8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费用项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11680" y="960120"/>
            <a:ext cx="2148840" cy="384048"/>
          </a:xfrm>
          <a:prstGeom prst="roundRect">
            <a:avLst>
              <a:gd name="adj" fmla="val 11905"/>
            </a:avLst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2011680" y="96012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保守型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480560" y="960120"/>
            <a:ext cx="2148840" cy="384048"/>
          </a:xfrm>
          <a:prstGeom prst="roundRect">
            <a:avLst>
              <a:gd name="adj" fmla="val 11905"/>
            </a:avLst>
          </a:prstGeom>
          <a:solidFill>
            <a:srgbClr val="2563EB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96012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均衡型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949440" y="960120"/>
            <a:ext cx="2148840" cy="384048"/>
          </a:xfrm>
          <a:prstGeom prst="roundRect">
            <a:avLst>
              <a:gd name="adj" fmla="val 11905"/>
            </a:avLst>
          </a:prstGeom>
          <a:solidFill>
            <a:srgbClr val="7C3AED"/>
          </a:solidFill>
          <a:ln/>
        </p:spPr>
      </p:sp>
      <p:sp>
        <p:nvSpPr>
          <p:cNvPr id="13" name="Text 11"/>
          <p:cNvSpPr/>
          <p:nvPr/>
        </p:nvSpPr>
        <p:spPr>
          <a:xfrm>
            <a:off x="6949440" y="96012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激进型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1344168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4320" y="134416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API调用费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011680" y="1344168"/>
            <a:ext cx="2148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11680" y="134416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¥405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0" y="1344168"/>
            <a:ext cx="2148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134416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¥11,640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949440" y="1344168"/>
            <a:ext cx="2148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949440" y="134416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¥16,200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74320" y="1728216"/>
            <a:ext cx="164592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74320" y="172821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云服务器+带宽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011680" y="1728216"/>
            <a:ext cx="214884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011680" y="172821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¥1,350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480560" y="1728216"/>
            <a:ext cx="214884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80560" y="172821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¥1,950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949440" y="1728216"/>
            <a:ext cx="214884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172821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¥1,950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274320" y="2112264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74320" y="211226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运营维护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011680" y="2112264"/>
            <a:ext cx="2148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011680" y="2112264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¥210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480560" y="2112264"/>
            <a:ext cx="2148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480560" y="2112264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¥510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949440" y="2112264"/>
            <a:ext cx="2148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0" y="2112264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¥760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" y="2496312"/>
            <a:ext cx="164592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74320" y="249631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知识库更新费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011680" y="2496312"/>
            <a:ext cx="214884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011680" y="249631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¥0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480560" y="2496312"/>
            <a:ext cx="214884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480560" y="249631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¥2,000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6949440" y="2496312"/>
            <a:ext cx="214884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949440" y="2496312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¥2,000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74320" y="2880360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28803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技术支持费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2011680" y="2880360"/>
            <a:ext cx="2148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011680" y="288036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¥0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480560" y="2880360"/>
            <a:ext cx="2148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480560" y="288036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¥2,000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6949440" y="2880360"/>
            <a:ext cx="21488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949440" y="2880360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¥2,000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274320" y="3264408"/>
            <a:ext cx="164592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74320" y="326440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成本合计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011680" y="3264408"/>
            <a:ext cx="214884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011680" y="326440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¥1,965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4480560" y="3264408"/>
            <a:ext cx="214884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80560" y="326440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¥18,100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949440" y="3264408"/>
            <a:ext cx="2148840" cy="384048"/>
          </a:xfrm>
          <a:prstGeom prst="rect">
            <a:avLst/>
          </a:prstGeom>
          <a:solidFill>
            <a:srgbClr val="DBEAFE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49440" y="3264408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¥22,910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274320" y="3648456"/>
            <a:ext cx="164592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74320" y="364845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服务费（30%）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2011680" y="3648456"/>
            <a:ext cx="2148840" cy="384048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011680" y="364845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¥590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480560" y="3648456"/>
            <a:ext cx="2148840" cy="384048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480560" y="364845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¥5,430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6949440" y="3648456"/>
            <a:ext cx="2148840" cy="384048"/>
          </a:xfrm>
          <a:prstGeom prst="rect">
            <a:avLst/>
          </a:prstGeom>
          <a:solidFill>
            <a:srgbClr val="FEF3C7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49440" y="3648456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¥6,873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274320" y="4032504"/>
            <a:ext cx="1645920" cy="384048"/>
          </a:xfrm>
          <a:prstGeom prst="rect">
            <a:avLst/>
          </a:prstGeom>
          <a:solidFill>
            <a:srgbClr val="F0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4320" y="403250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对外报价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2011680" y="4032504"/>
            <a:ext cx="2148840" cy="384048"/>
          </a:xfrm>
          <a:prstGeom prst="rect">
            <a:avLst/>
          </a:prstGeom>
          <a:solidFill>
            <a:srgbClr val="059669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2011680" y="4032504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¥2,555</a:t>
            </a:r>
            <a:endParaRPr lang="en-US" sz="1200" dirty="0"/>
          </a:p>
        </p:txBody>
      </p:sp>
      <p:sp>
        <p:nvSpPr>
          <p:cNvPr id="74" name="Shape 72"/>
          <p:cNvSpPr/>
          <p:nvPr/>
        </p:nvSpPr>
        <p:spPr>
          <a:xfrm>
            <a:off x="4480560" y="4032504"/>
            <a:ext cx="2148840" cy="384048"/>
          </a:xfrm>
          <a:prstGeom prst="rect">
            <a:avLst/>
          </a:prstGeom>
          <a:solidFill>
            <a:srgbClr val="2563EB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480560" y="4032504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¥23,530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6949440" y="4032504"/>
            <a:ext cx="2148840" cy="384048"/>
          </a:xfrm>
          <a:prstGeom prst="rect">
            <a:avLst/>
          </a:prstGeom>
          <a:solidFill>
            <a:srgbClr val="7C3AED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949440" y="4032504"/>
            <a:ext cx="2148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¥29,783</a:t>
            </a:r>
            <a:endParaRPr lang="en-US" sz="1200" dirty="0"/>
          </a:p>
        </p:txBody>
      </p:sp>
      <p:sp>
        <p:nvSpPr>
          <p:cNvPr id="78" name="Shape 76"/>
          <p:cNvSpPr/>
          <p:nvPr/>
        </p:nvSpPr>
        <p:spPr>
          <a:xfrm>
            <a:off x="274320" y="4572000"/>
            <a:ext cx="85953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</p:spPr>
      </p:sp>
      <p:sp>
        <p:nvSpPr>
          <p:cNvPr id="79" name="Text 77"/>
          <p:cNvSpPr/>
          <p:nvPr/>
        </p:nvSpPr>
        <p:spPr>
          <a:xfrm>
            <a:off x="365760" y="457200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※ 服务费为我们赚取的利润（30%），用于持续优化服务与技术研发 | 成本明细公开透明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实施计划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9144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三阶段里程碑，整体周期约6-8周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2788920" cy="40233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051560" y="914400"/>
            <a:ext cx="1325880" cy="320040"/>
          </a:xfrm>
          <a:prstGeom prst="roundRect">
            <a:avLst>
              <a:gd name="adj" fmla="val 42857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051560" y="9144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第一阶段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" y="12801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部署与适配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20040" y="16459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第1-2周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1480" y="2011680"/>
            <a:ext cx="2606040" cy="6858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" y="2057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服务器环境准备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84632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云服务器或本地服务器部署准备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11480" y="2788920"/>
            <a:ext cx="2606040" cy="6858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" y="2834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微信公众号配置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" y="3108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AppID/Secret/Token/AESKey配置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11480" y="3566160"/>
            <a:ext cx="2606040" cy="6858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" y="3611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知识库初始化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4632" y="3886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学校文件PDF/Word解析入库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4343400"/>
            <a:ext cx="2606040" cy="6858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" y="4389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基础功能测试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" y="4663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问答、转人工、意图识别测试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46120" y="1005840"/>
            <a:ext cx="2788920" cy="40233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977640" y="914400"/>
            <a:ext cx="1325880" cy="320040"/>
          </a:xfrm>
          <a:prstGeom prst="roundRect">
            <a:avLst>
              <a:gd name="adj" fmla="val 42857"/>
            </a:avLst>
          </a:prstGeom>
          <a:solidFill>
            <a:srgbClr val="7C3AED"/>
          </a:solidFill>
          <a:ln/>
        </p:spPr>
      </p:sp>
      <p:sp>
        <p:nvSpPr>
          <p:cNvPr id="25" name="Text 23"/>
          <p:cNvSpPr/>
          <p:nvPr/>
        </p:nvSpPr>
        <p:spPr>
          <a:xfrm>
            <a:off x="3977640" y="9144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第二阶段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246120" y="12801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定制与优化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3246120" y="16459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3A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第3-5周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337560" y="2011680"/>
            <a:ext cx="2606040" cy="6858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</p:spPr>
      </p:sp>
      <p:sp>
        <p:nvSpPr>
          <p:cNvPr id="29" name="Text 27"/>
          <p:cNvSpPr/>
          <p:nvPr/>
        </p:nvSpPr>
        <p:spPr>
          <a:xfrm>
            <a:off x="3410712" y="2057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知识库内容扩充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410712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根据学校情况补充更多办事指南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337560" y="2788920"/>
            <a:ext cx="2606040" cy="6858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</p:spPr>
      </p:sp>
      <p:sp>
        <p:nvSpPr>
          <p:cNvPr id="32" name="Text 30"/>
          <p:cNvSpPr/>
          <p:nvPr/>
        </p:nvSpPr>
        <p:spPr>
          <a:xfrm>
            <a:off x="3410712" y="2834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老师联系方式配置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410712" y="3108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按实际部门配置转接规则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337560" y="3566160"/>
            <a:ext cx="2606040" cy="6858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</p:spPr>
      </p:sp>
      <p:sp>
        <p:nvSpPr>
          <p:cNvPr id="35" name="Text 33"/>
          <p:cNvSpPr/>
          <p:nvPr/>
        </p:nvSpPr>
        <p:spPr>
          <a:xfrm>
            <a:off x="3410712" y="3611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回答质量优化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410712" y="3886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调优Prompt，提升回答准确率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337560" y="4343400"/>
            <a:ext cx="2606040" cy="6858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</p:spPr>
      </p:sp>
      <p:sp>
        <p:nvSpPr>
          <p:cNvPr id="38" name="Text 36"/>
          <p:cNvSpPr/>
          <p:nvPr/>
        </p:nvSpPr>
        <p:spPr>
          <a:xfrm>
            <a:off x="3410712" y="4389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内测与反馈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410712" y="4663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邀请辅导员和学生内测，收集反馈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72200" y="1005840"/>
            <a:ext cx="2788920" cy="40233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903720" y="914400"/>
            <a:ext cx="1325880" cy="320040"/>
          </a:xfrm>
          <a:prstGeom prst="roundRect">
            <a:avLst>
              <a:gd name="adj" fmla="val 42857"/>
            </a:avLst>
          </a:prstGeom>
          <a:solidFill>
            <a:srgbClr val="059669"/>
          </a:solidFill>
          <a:ln/>
        </p:spPr>
      </p:sp>
      <p:sp>
        <p:nvSpPr>
          <p:cNvPr id="42" name="Text 40"/>
          <p:cNvSpPr/>
          <p:nvPr/>
        </p:nvSpPr>
        <p:spPr>
          <a:xfrm>
            <a:off x="6903720" y="91440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第三阶段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172200" y="1280160"/>
            <a:ext cx="278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上线与运营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6172200" y="1645920"/>
            <a:ext cx="2788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596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第6-8周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63640" y="2011680"/>
            <a:ext cx="2606040" cy="6858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</p:spPr>
      </p:sp>
      <p:sp>
        <p:nvSpPr>
          <p:cNvPr id="46" name="Text 44"/>
          <p:cNvSpPr/>
          <p:nvPr/>
        </p:nvSpPr>
        <p:spPr>
          <a:xfrm>
            <a:off x="6336792" y="20574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正式上线发布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336792" y="23317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全量开放给全校学生使用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263640" y="2788920"/>
            <a:ext cx="2606040" cy="6858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</p:spPr>
      </p:sp>
      <p:sp>
        <p:nvSpPr>
          <p:cNvPr id="49" name="Text 47"/>
          <p:cNvSpPr/>
          <p:nvPr/>
        </p:nvSpPr>
        <p:spPr>
          <a:xfrm>
            <a:off x="6336792" y="28346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持续知识库运营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336792" y="31089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定期更新文件、补充新内容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263640" y="3566160"/>
            <a:ext cx="2606040" cy="6858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</p:spPr>
      </p:sp>
      <p:sp>
        <p:nvSpPr>
          <p:cNvPr id="52" name="Text 50"/>
          <p:cNvSpPr/>
          <p:nvPr/>
        </p:nvSpPr>
        <p:spPr>
          <a:xfrm>
            <a:off x="6336792" y="36118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效果跟踪分析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336792" y="388620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统计问答量、满意度、转人工率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263640" y="4343400"/>
            <a:ext cx="2606040" cy="685800"/>
          </a:xfrm>
          <a:prstGeom prst="roundRect">
            <a:avLst>
              <a:gd name="adj" fmla="val 6667"/>
            </a:avLst>
          </a:prstGeom>
          <a:solidFill>
            <a:srgbClr val="F0F4F8"/>
          </a:solidFill>
          <a:ln/>
        </p:spPr>
      </p:sp>
      <p:sp>
        <p:nvSpPr>
          <p:cNvPr id="55" name="Text 53"/>
          <p:cNvSpPr/>
          <p:nvPr/>
        </p:nvSpPr>
        <p:spPr>
          <a:xfrm>
            <a:off x="6336792" y="4389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▸ 迭代优化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336792" y="4663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基于数据持续优化系统效果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3716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371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合作方式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落地模式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5087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20574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SaaS云服务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423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我方托管在云端，学校无需服务器，快速接入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2971800"/>
            <a:ext cx="2423160" cy="365760"/>
          </a:xfrm>
          <a:prstGeom prst="roundRect">
            <a:avLst>
              <a:gd name="adj" fmla="val 37500"/>
            </a:avLst>
          </a:prstGeom>
          <a:solidFill>
            <a:srgbClr val="DBEAFE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29718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适合：快速上线、无IT团队的院校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00400" y="141732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0" y="15087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🖥️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200400" y="20574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私有化部署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91840" y="2423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部署在学校自有服务器，数据完全自主掌控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37560" y="2971800"/>
            <a:ext cx="2423160" cy="365760"/>
          </a:xfrm>
          <a:prstGeom prst="roundRect">
            <a:avLst>
              <a:gd name="adj" fmla="val 37500"/>
            </a:avLst>
          </a:prstGeom>
          <a:solidFill>
            <a:srgbClr val="DBEAFE"/>
          </a:solidFill>
          <a:ln/>
        </p:spPr>
      </p:sp>
      <p:sp>
        <p:nvSpPr>
          <p:cNvPr id="17" name="Text 15"/>
          <p:cNvSpPr/>
          <p:nvPr/>
        </p:nvSpPr>
        <p:spPr>
          <a:xfrm>
            <a:off x="3337560" y="29718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适合：对数据安全有要求、有IT运维团队的院校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035040" y="141732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035040" y="1508760"/>
            <a:ext cx="2697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🔀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035040" y="2057400"/>
            <a:ext cx="2697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混合部署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26480" y="2423160"/>
            <a:ext cx="2514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核心数据本地，知识库云端，兼顾安全与灵活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72200" y="2971800"/>
            <a:ext cx="2423160" cy="365760"/>
          </a:xfrm>
          <a:prstGeom prst="roundRect">
            <a:avLst>
              <a:gd name="adj" fmla="val 37500"/>
            </a:avLst>
          </a:prstGeom>
          <a:solidFill>
            <a:srgbClr val="DBEAFE"/>
          </a:solidFill>
          <a:ln/>
        </p:spPr>
      </p:sp>
      <p:sp>
        <p:nvSpPr>
          <p:cNvPr id="23" name="Text 21"/>
          <p:cNvSpPr/>
          <p:nvPr/>
        </p:nvSpPr>
        <p:spPr>
          <a:xfrm>
            <a:off x="6172200" y="2971800"/>
            <a:ext cx="2423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适合：大型院校、特殊合规要求的院校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65760" y="36118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服务保障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365760" y="402336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6576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📅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65760" y="4480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服务周期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合同期1年起，期满自动续约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514600" y="402336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51460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🔧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2514600" y="4480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运维支持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260604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7×24小时技术支持，故障2小时内响应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663440" y="402336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466344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📚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4663440" y="4480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知识库运营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5488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协助知识库更新维护，不额外收费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812280" y="4023360"/>
            <a:ext cx="201168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5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6812280" y="411480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🎓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6812280" y="448056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培训服务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03720" y="47091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提供操作培训视频和文档</a:t>
            </a:r>
            <a:endParaRPr lang="en-US" sz="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4B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4864"/>
            <a:ext cx="109728" cy="2743200"/>
          </a:xfrm>
          <a:prstGeom prst="rect">
            <a:avLst/>
          </a:prstGeom>
          <a:solidFill>
            <a:srgbClr val="2563EB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总结与展望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7×24即时响应，彻底解决学生"等待难"问题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RAG知识库精准解答，答案基于学校官方文件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48640" y="21945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5大意图全覆盖，奖助学金/宿舍/消三比等全涵盖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转人工兜底机制，服务闭环有保障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32004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✅ 微信公众号入口，学生无需下载，即开即用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3794760"/>
            <a:ext cx="8412480" cy="1188720"/>
          </a:xfrm>
          <a:prstGeom prst="roundRect">
            <a:avLst>
              <a:gd name="adj" fmla="val 7692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886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🚀 未来升级方向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4297680"/>
            <a:ext cx="1965960" cy="548640"/>
          </a:xfrm>
          <a:prstGeom prst="round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2976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多模态交互（图片/语音）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514600" y="4297680"/>
            <a:ext cx="1965960" cy="548640"/>
          </a:xfrm>
          <a:prstGeom prst="round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2514600" y="42976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Agent智能体自动化办事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4297680"/>
            <a:ext cx="1965960" cy="548640"/>
          </a:xfrm>
          <a:prstGeom prst="round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0" y="42976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与教务/宿管系统深度对接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29400" y="4297680"/>
            <a:ext cx="1965960" cy="548640"/>
          </a:xfrm>
          <a:prstGeom prst="round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629400" y="4297680"/>
            <a:ext cx="1965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学生画像与个性化服务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1A4B8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联系我们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3C5F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期待与贵校携手，共建智慧校园服务新体验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FDBF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AI辅导员项目组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28346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2926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📧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65760" y="3429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邮箱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3703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3977871701@qq.com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14600" y="28346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2514600" y="2926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📞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14600" y="3429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14600" y="3703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13825850878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8346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663440" y="2926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663440" y="3429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官网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63440" y="3703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待定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812280" y="2834640"/>
            <a:ext cx="201168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6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812280" y="292608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6812280" y="3429000"/>
            <a:ext cx="2011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微信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12280" y="37033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13825850878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© 2026 AI辅导员项目组 · 保留所有权利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AI辅导员项目组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学院AI辅导员系统介绍</dc:title>
  <dc:subject>智能服务学生新方式</dc:subject>
  <dc:creator>AI辅导员团队</dc:creator>
  <cp:lastModifiedBy>AI辅导员团队</cp:lastModifiedBy>
  <cp:revision>1</cp:revision>
  <dcterms:created xsi:type="dcterms:W3CDTF">2026-04-26T07:01:10Z</dcterms:created>
  <dcterms:modified xsi:type="dcterms:W3CDTF">2026-04-26T07:01:10Z</dcterms:modified>
</cp:coreProperties>
</file>